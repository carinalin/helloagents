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0" y="2130425"/>
            <a:ext cx="9143365" cy="1470025"/>
          </a:xfrm>
        </p:spPr>
        <p:txBody>
          <a:bodyPr wrap="square">
            <a:noAutofit/>
          </a:bodyPr>
          <a:lstStyle/>
          <a:p>
            <a:pPr lvl="0"/>
            <a:r>
              <a:rPr>
                <a:solidFill>
                  <a:schemeClr val="tx2"/>
                </a:solidFill>
              </a:rPr>
              <a:t>Analysis of Population Mobility in Shenzhen</a:t>
            </a:r>
          </a:p>
        </p:txBody>
      </p:sp>
      <p:sp>
        <p:nvSpPr>
          <p:cNvPr id="3" name="Subtitle 2"/>
          <p:cNvSpPr>
            <a:spLocks noGrp="1"/>
          </p:cNvSpPr>
          <p:nvPr>
            <p:ph type="subTitle" idx="1"/>
          </p:nvPr>
        </p:nvSpPr>
        <p:spPr>
          <a:xfrm>
            <a:off x="1371600" y="3886200"/>
            <a:ext cx="6400800" cy="1752600"/>
          </a:xfrm>
        </p:spPr>
        <p:txBody>
          <a:bodyPr>
            <a:noAutofit/>
          </a:bodyPr>
          <a:lstStyle/>
          <a:p>
            <a:pPr lvl="0"/>
            <a:r>
              <a:rPr>
                <a:solidFill>
                  <a:schemeClr val="accent6"/>
                </a:solidFill>
              </a:rPr>
              <a:t>Author: [Your Name]</a:t>
            </a:r>
          </a:p>
          <a:p>
            <a:pPr lvl="0"/>
            <a:r>
              <a:rPr>
                <a:solidFill>
                  <a:schemeClr val="accent6"/>
                </a:solidFill>
              </a:rPr>
              <a:t>Date: 2025-06-05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000" cy="1143000"/>
          </a:xfrm>
        </p:spPr>
        <p:txBody>
          <a:bodyPr wrap="square">
            <a:noAutofit/>
          </a:bodyPr>
          <a:lstStyle/>
          <a:p>
            <a:pPr lvl="0"/>
            <a:r>
              <a:rPr/>
              <a:t>Table of Contents</a:t>
            </a:r>
          </a:p>
        </p:txBody>
      </p:sp>
      <p:sp>
        <p:nvSpPr>
          <p:cNvPr id="3" name="Content Placeholder 2"/>
          <p:cNvSpPr>
            <a:spLocks noGrp="1"/>
          </p:cNvSpPr>
          <p:nvPr>
            <p:ph idx="1"/>
          </p:nvPr>
        </p:nvSpPr>
        <p:spPr>
          <a:xfrm>
            <a:off x="457200" y="1600200"/>
            <a:ext cx="8412480" cy="4525963"/>
          </a:xfrm>
        </p:spPr>
        <p:txBody>
          <a:bodyPr wrap="square">
            <a:noAutofit/>
          </a:bodyPr>
          <a:lstStyle/>
          <a:p>
            <a:pPr lvl="0"/>
            <a:r>
              <a:rPr/>
              <a:t>1. Introduction</a:t>
            </a:r>
          </a:p>
          <a:p>
            <a:pPr lvl="0"/>
            <a:r>
              <a:rPr/>
              <a:t>2. Current Status of Population Mobility in Shenzhen</a:t>
            </a:r>
          </a:p>
          <a:p>
            <a:pPr lvl="0"/>
            <a:r>
              <a:rPr/>
              <a:t>3. Factors Influencing Population Mobility in Shenzhen</a:t>
            </a:r>
          </a:p>
          <a:p>
            <a:pPr lvl="0"/>
            <a:r>
              <a:rPr/>
              <a:t>4. Trends and Impacts of Population Mobility in Shenzhen</a:t>
            </a:r>
          </a:p>
          <a:p>
            <a:pPr lvl="0"/>
            <a:r>
              <a:rPr/>
              <a:t>5. Conclusions and Recommendations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000" cy="1143000"/>
          </a:xfrm>
        </p:spPr>
        <p:txBody>
          <a:bodyPr wrap="square">
            <a:noAutofit/>
          </a:bodyPr>
          <a:lstStyle/>
          <a:p>
            <a:pPr lvl="0"/>
            <a:r>
              <a:rPr/>
              <a:t>Introduction</a:t>
            </a:r>
          </a:p>
        </p:txBody>
      </p:sp>
      <p:sp>
        <p:nvSpPr>
          <p:cNvPr id="3" name="Content Placeholder 2"/>
          <p:cNvSpPr>
            <a:spLocks noGrp="1"/>
          </p:cNvSpPr>
          <p:nvPr>
            <p:ph idx="1"/>
          </p:nvPr>
        </p:nvSpPr>
        <p:spPr>
          <a:xfrm>
            <a:off x="457200" y="1600200"/>
            <a:ext cx="8412480" cy="4525963"/>
          </a:xfrm>
        </p:spPr>
        <p:txBody>
          <a:bodyPr wrap="square">
            <a:noAutofit/>
          </a:bodyPr>
          <a:lstStyle/>
          <a:p>
            <a:pPr lvl="0"/>
            <a:r>
              <a:rPr/>
              <a:t>As a pioneering city in China's reform and opening-up, Shenzhen exhibits distinctive characteristics and profound impacts in population mobility. This section will briefly introduce Shenzhen's development history, the background of population mobility, and the importance and significance of the research.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000" cy="1143000"/>
          </a:xfrm>
        </p:spPr>
        <p:txBody>
          <a:bodyPr wrap="square">
            <a:noAutofit/>
          </a:bodyPr>
          <a:lstStyle/>
          <a:p>
            <a:pPr lvl="0"/>
            <a:r>
              <a:rPr/>
              <a:t>Current Status of Population Mobility in Shenzhen</a:t>
            </a:r>
          </a:p>
        </p:txBody>
      </p:sp>
      <p:sp>
        <p:nvSpPr>
          <p:cNvPr id="3" name="Content Placeholder 2"/>
          <p:cNvSpPr>
            <a:spLocks noGrp="1"/>
          </p:cNvSpPr>
          <p:nvPr>
            <p:ph idx="1"/>
          </p:nvPr>
        </p:nvSpPr>
        <p:spPr>
          <a:xfrm>
            <a:off x="457200" y="1600200"/>
            <a:ext cx="8412480" cy="4525963"/>
          </a:xfrm>
        </p:spPr>
        <p:txBody>
          <a:bodyPr wrap="square">
            <a:noAutofit/>
          </a:bodyPr>
          <a:lstStyle/>
          <a:p>
            <a:pPr lvl="0"/>
            <a:r>
              <a:rPr/>
              <a:t>This section will provide a detailed analysis of Shenzhen's population mobility status, including the scale of population inflow and outflow, primary sources and destinations, the age and gender structure of the mobile population, as well as their occupational and educational backgrounds.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274955"/>
            <a:ext cx="9144000" cy="1143000"/>
          </a:xfrm>
        </p:spPr>
        <p:txBody>
          <a:bodyPr wrap="square">
            <a:noAutofit/>
          </a:bodyPr>
          <a:lstStyle/>
          <a:p>
            <a:pPr lvl="0"/>
            <a:r>
              <a:rPr/>
              <a:t>Factors Influencing Population Mobility in Shenzhen</a:t>
            </a:r>
          </a:p>
        </p:txBody>
      </p:sp>
      <p:sp>
        <p:nvSpPr>
          <p:cNvPr id="3" name="Content Placeholder 2"/>
          <p:cNvSpPr>
            <a:spLocks noGrp="1"/>
          </p:cNvSpPr>
          <p:nvPr>
            <p:ph idx="1"/>
          </p:nvPr>
        </p:nvSpPr>
        <p:spPr>
          <a:xfrm>
            <a:off x="457200" y="1600200"/>
            <a:ext cx="8229600" cy="4525963"/>
          </a:xfrm>
        </p:spPr>
        <p:txBody>
          <a:bodyPr>
            <a:noAutofit/>
          </a:bodyPr>
          <a:lstStyle/>
          <a:p>
            <a:pPr lvl="0"/>
            <a:r>
              <a:rPr/>
              <a:t>This section will explore various factors influencing population mobility in Shenzhen, including economic, policy, social, and geographical factors. By analyzing these factors, we can better understand the drivers and mechanisms behind Shenzhen's population mobility.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635" cy="1143000"/>
          </a:xfrm>
        </p:spPr>
        <p:txBody>
          <a:bodyPr wrap="square">
            <a:noAutofit/>
          </a:bodyPr>
          <a:lstStyle/>
          <a:p>
            <a:pPr lvl="0"/>
            <a:r>
              <a:rPr/>
              <a:t>Trends and Impacts of Population Mobility in Shenzhen</a:t>
            </a:r>
          </a:p>
        </p:txBody>
      </p:sp>
      <p:sp>
        <p:nvSpPr>
          <p:cNvPr id="3" name="Content Placeholder 2"/>
          <p:cNvSpPr>
            <a:spLocks noGrp="1"/>
          </p:cNvSpPr>
          <p:nvPr>
            <p:ph idx="1"/>
          </p:nvPr>
        </p:nvSpPr>
        <p:spPr>
          <a:xfrm>
            <a:off x="457200" y="1600200"/>
            <a:ext cx="8412480" cy="4525963"/>
          </a:xfrm>
        </p:spPr>
        <p:txBody>
          <a:bodyPr wrap="square">
            <a:noAutofit/>
          </a:bodyPr>
          <a:lstStyle/>
          <a:p>
            <a:pPr lvl="0"/>
            <a:r>
              <a:rPr/>
              <a:t>This section will analyze the future trends of population mobility in Shenzhen and explore its impact on the city's economy, social structure, urban planning, and other aspects. Through these analyses, we can provide valuable insights and recommendations for Shenzhen's future development.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74955"/>
            <a:ext cx="9144000" cy="1143000"/>
          </a:xfrm>
        </p:spPr>
        <p:txBody>
          <a:bodyPr wrap="square">
            <a:noAutofit/>
          </a:bodyPr>
          <a:lstStyle/>
          <a:p>
            <a:pPr lvl="0"/>
            <a:r>
              <a:rPr/>
              <a:t>Conclusion and Recommendations</a:t>
            </a:r>
          </a:p>
        </p:txBody>
      </p:sp>
      <p:sp>
        <p:nvSpPr>
          <p:cNvPr id="3" name="Content Placeholder 2"/>
          <p:cNvSpPr>
            <a:spLocks noGrp="1"/>
          </p:cNvSpPr>
          <p:nvPr>
            <p:ph idx="1"/>
          </p:nvPr>
        </p:nvSpPr>
        <p:spPr>
          <a:xfrm>
            <a:off x="457200" y="1600200"/>
            <a:ext cx="8412480" cy="4525963"/>
          </a:xfrm>
        </p:spPr>
        <p:txBody>
          <a:bodyPr wrap="square">
            <a:noAutofit/>
          </a:bodyPr>
          <a:lstStyle/>
          <a:p>
            <a:pPr lvl="0"/>
            <a:r>
              <a:rPr/>
              <a:t>This section will summarize the key findings from the previous analysis and propose corresponding policy recommendations. These recommendations aim to promote the healthy development of population mobility in Shenzhen, optimize the city’s structure, and enhance its competitiveness.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470</Words>
  <Application>WPS 演示</Application>
  <PresentationFormat>On-screen Show (4:3)</PresentationFormat>
  <Paragraphs>33</Paragraphs>
  <Slides>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宋体</vt:lpstr>
      <vt:lpstr>Wingdings</vt:lpstr>
      <vt:lpstr>Arial</vt:lpstr>
      <vt:lpstr>Calibri</vt:lpstr>
      <vt:lpstr>Helvetica Neue</vt:lpstr>
      <vt:lpstr>宋体</vt:lpstr>
      <vt:lpstr>汉仪书宋二KW</vt:lpstr>
      <vt:lpstr>微软雅黑</vt:lpstr>
      <vt:lpstr>汉仪旗黑</vt:lpstr>
      <vt:lpstr>Arial Unicode MS</vt:lpstr>
      <vt:lpstr>Office Theme</vt:lpstr>
      <vt:lpstr>深圳人口流动的分析</vt:lpstr>
      <vt:lpstr>目录</vt:lpstr>
      <vt:lpstr>引言</vt:lpstr>
      <vt:lpstr>深圳人口流动现状</vt:lpstr>
      <vt:lpstr>影响深圳人口流动的因素</vt:lpstr>
      <vt:lpstr>深圳人口流动的趋势和影响</vt:lpstr>
      <vt:lpstr>结论与建议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Carina</cp:lastModifiedBy>
  <cp:revision>7</cp:revision>
  <dcterms:created xsi:type="dcterms:W3CDTF">2026-02-10T14:03:10Z</dcterms:created>
  <dcterms:modified xsi:type="dcterms:W3CDTF">2026-02-10T14:03:10Z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92B4A8C37D4B64A999FE8A69926E5D3A_42</vt:lpwstr>
  </property>
  <property fmtid="{D5CDD505-2E9C-101B-9397-08002B2CF9AE}" pid="3" name="KSOProductBuildVer">
    <vt:lpwstr>2052-12.1.25195.25195</vt:lpwstr>
  </property>
</Properties>
</file>